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embeddedFontLst>
    <p:embeddedFont>
      <p:font typeface="Inter"/>
      <p:regular r:id="rId77"/>
    </p:embeddedFont>
    <p:embeddedFont>
      <p:font typeface="Phetsarath"/>
      <p:regular r:id="rId78"/>
    </p:embeddedFont>
    <p:embeddedFont>
      <p:font typeface="Inconsolata"/>
      <p:regular r:id="rId79"/>
    </p:embeddedFont>
    <p:embeddedFont>
      <p:font typeface="Marcellus"/>
      <p:regular r:id="rId80"/>
    </p:embeddedFont>
    <p:embeddedFont>
      <p:font typeface="HeadlandOne"/>
      <p:regular r:id="rId81"/>
    </p:embeddedFont>
    <p:embeddedFont>
      <p:font typeface="Kumbh Sans"/>
      <p:regular r:id="rId82"/>
    </p:embeddedFont>
    <p:embeddedFont>
      <p:font typeface="Instrument Sans"/>
      <p:regular r:id="rId83"/>
    </p:embeddedFont>
    <p:embeddedFont>
      <p:font typeface="Inria Sans"/>
      <p:regular r:id="rId84"/>
    </p:embeddedFont>
    <p:embeddedFont>
      <p:font typeface="Cutive Mono"/>
      <p:regular r:id="rId8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font" Target="fonts/rId77.fntdata"/><Relationship Id="rId78" Type="http://schemas.openxmlformats.org/officeDocument/2006/relationships/font" Target="fonts/rId78.fntdata"/><Relationship Id="rId79" Type="http://schemas.openxmlformats.org/officeDocument/2006/relationships/font" Target="fonts/rId79.fntdata"/><Relationship Id="rId80" Type="http://schemas.openxmlformats.org/officeDocument/2006/relationships/font" Target="fonts/rId80.fntdata"/><Relationship Id="rId81" Type="http://schemas.openxmlformats.org/officeDocument/2006/relationships/font" Target="fonts/rId81.fntdata"/><Relationship Id="rId82" Type="http://schemas.openxmlformats.org/officeDocument/2006/relationships/font" Target="fonts/rId82.fntdata"/><Relationship Id="rId83" Type="http://schemas.openxmlformats.org/officeDocument/2006/relationships/font" Target="fonts/rId83.fntdata"/><Relationship Id="rId84" Type="http://schemas.openxmlformats.org/officeDocument/2006/relationships/font" Target="fonts/rId84.fntdata"/><Relationship Id="rId85" Type="http://schemas.openxmlformats.org/officeDocument/2006/relationships/font" Target="fonts/rId8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is this method giving an edge over the other methods like UCB, ...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tail behaviour?
it means p95 
Even if a network looks good “on average,” the 5% worst clients can completely determine the user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shield for?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testing on small 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4-1.mp4"/><Relationship Id="rId2" Type="http://schemas.microsoft.com/office/2007/relationships/media" Target="../media/media-64-1.mp4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7344" y="1895475"/>
            <a:ext cx="5929313" cy="13573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607344" y="1895475"/>
            <a:ext cx="5929313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7"/>
              </a:lnSpc>
              <a:buNone/>
            </a:pPr>
            <a:r>
              <a:rPr lang="en-US" sz="2423" spc="-48" kern="0" dirty="0">
                <a:solidFill>
                  <a:srgbClr val="1E1E1E">
                    <a:alpha val="99000"/>
                  </a:srgbClr>
                </a:solidFill>
                <a:latin typeface="Phetsarath" pitchFamily="34" charset="0"/>
                <a:ea typeface="Phetsarath" pitchFamily="34" charset="-122"/>
                <a:cs typeface="Phetsarath" pitchFamily="34" charset="-120"/>
              </a:rPr>
              <a:t>AI Assisted, Client-Aware, Closed Loop</a:t>
            </a:r>
            <a:endParaRPr lang="en-US" sz="2423" dirty="0"/>
          </a:p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Phetsarath" pitchFamily="34" charset="0"/>
                <a:ea typeface="Phetsarath" pitchFamily="34" charset="-122"/>
                <a:cs typeface="Phetsarath" pitchFamily="34" charset="-120"/>
              </a:rPr>
              <a:t> RRM Plus</a:t>
            </a:r>
            <a:endParaRPr lang="en-US" sz="2423" dirty="0"/>
          </a:p>
        </p:txBody>
      </p:sp>
      <p:sp>
        <p:nvSpPr>
          <p:cNvPr id="4" name="Text 2"/>
          <p:cNvSpPr/>
          <p:nvPr/>
        </p:nvSpPr>
        <p:spPr>
          <a:xfrm>
            <a:off x="1607344" y="2986088"/>
            <a:ext cx="592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95"/>
              </a:lnSpc>
              <a:buNone/>
            </a:pPr>
            <a:r>
              <a:rPr lang="en-US" sz="1425" spc="-14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Arista Networks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" y="3571875"/>
            <a:ext cx="89916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75"/>
              </a:lnSpc>
              <a:buNone/>
            </a:pPr>
            <a:r>
              <a:rPr lang="en-US" sz="1496" spc="-30" kern="0" dirty="0">
                <a:solidFill>
                  <a:srgbClr val="000000">
                    <a:alpha val="99000"/>
                  </a:srgbClr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Team 15</a:t>
            </a:r>
            <a:endParaRPr lang="en-US" sz="14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719138" y="4019550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66925" y="3090863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57575" y="3090863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72100" y="3090863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91388" y="3090863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84" cy="157876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51267" cy="650081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094330" cy="65008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11236" cy="650081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11" cy="65008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5396949">
            <a:off x="983733" y="4836315"/>
            <a:ext cx="61435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224213" y="666750"/>
            <a:ext cx="26955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Channel Scan Scheduler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6388" y="3790950"/>
            <a:ext cx="1543050" cy="795338"/>
          </a:xfrm>
          <a:prstGeom prst="roundRect">
            <a:avLst>
              <a:gd name="adj" fmla="val 18395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Channel Scan Scheduler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71913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Non-WiFi Classifier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Change Detection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84" cy="15501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25186" cy="86439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698" cy="8643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4691">
            <a:off x="2065732" y="4864894"/>
            <a:ext cx="557218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8588" y="695325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Channel Scan Scheduler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214313" y="295275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00250" y="1657350"/>
            <a:ext cx="476250" cy="476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14463" y="1338263"/>
            <a:ext cx="6315075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8" y="695325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Channel Scan Scheduler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572000" y="695325"/>
            <a:ext cx="32432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8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214313" y="295275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00250" y="1657350"/>
            <a:ext cx="476250" cy="476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588" y="1714500"/>
            <a:ext cx="4443413" cy="24479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714500"/>
            <a:ext cx="4562475" cy="2395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505200" y="666750"/>
            <a:ext cx="21383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Non-WiFi Classifier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4013" y="3105150"/>
            <a:ext cx="1447800" cy="68580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Channel Scan Scheduler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52863" y="37909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Non-WiFi Classifier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Change Detection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80" cy="8643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06134" cy="155019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696" cy="8643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2732">
            <a:off x="4235095" y="4810125"/>
            <a:ext cx="666754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3063" y="1962150"/>
            <a:ext cx="1604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of operation: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566738" y="1009650"/>
            <a:ext cx="2733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Non-WiFi Classifier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6205538" y="833438"/>
            <a:ext cx="2138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pPr algn="ctr" indent="0" marL="0">
              <a:lnSpc>
                <a:spcPts val="1693"/>
              </a:lnSpc>
              <a:buNone/>
            </a:pPr>
            <a:r>
              <a:rPr lang="en-US" sz="1283" b="1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</a:t>
            </a:r>
            <a:pPr algn="ctr" indent="0" marL="0">
              <a:lnSpc>
                <a:spcPts val="1693"/>
              </a:lnSpc>
              <a:buNone/>
            </a:pPr>
            <a:r>
              <a:rPr lang="en-US" sz="1283" u="sng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</a:t>
            </a:r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0725" y="1223963"/>
            <a:ext cx="2952750" cy="147161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0500" y="2328863"/>
            <a:ext cx="4876800" cy="26908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1150" y="3057525"/>
            <a:ext cx="34813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tree offers the following </a:t>
            </a:r>
            <a:pPr algn="l" indent="0" marL="0">
              <a:lnSpc>
                <a:spcPts val="1337"/>
              </a:lnSpc>
              <a:buNone/>
            </a:pPr>
            <a:r>
              <a:rPr lang="en-US" sz="998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</a:t>
            </a:r>
            <a:pPr algn="l" indent="0" marL="0">
              <a:lnSpc>
                <a:spcPts val="1337"/>
              </a:lnSpc>
              <a:buNone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suitable for the requirements of the problem statement:</a:t>
            </a:r>
            <a:endParaRPr lang="en-US" sz="998" dirty="0"/>
          </a:p>
        </p:txBody>
      </p:sp>
      <p:sp>
        <p:nvSpPr>
          <p:cNvPr id="9" name="Text 5"/>
          <p:cNvSpPr/>
          <p:nvPr/>
        </p:nvSpPr>
        <p:spPr>
          <a:xfrm>
            <a:off x="5391150" y="3562350"/>
            <a:ext cx="345757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337"/>
              </a:lnSpc>
              <a:buSzPct val="100000"/>
              <a:buChar char="•"/>
            </a:pPr>
            <a:r>
              <a:rPr lang="en-US" sz="998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Speed:</a:t>
            </a:r>
            <a:pPr algn="l" indent="0" marL="0">
              <a:lnSpc>
                <a:spcPts val="1337"/>
              </a:lnSpc>
              <a:buNone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Inference in a decision tree is O(d), where d is the depth of the tree. </a:t>
            </a:r>
            <a:endParaRPr lang="en-US" sz="998" dirty="0"/>
          </a:p>
          <a:p>
            <a:pPr algn="l" marL="342900" indent="-342900">
              <a:lnSpc>
                <a:spcPts val="1337"/>
              </a:lnSpc>
              <a:buSzPct val="100000"/>
              <a:buChar char="•"/>
            </a:pPr>
            <a:r>
              <a:rPr lang="en-US" sz="998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Interpretability</a:t>
            </a:r>
            <a:pPr algn="l" indent="0" marL="0">
              <a:lnSpc>
                <a:spcPts val="1337"/>
              </a:lnSpc>
              <a:buNone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Decision Tree is fully transparent.</a:t>
            </a:r>
            <a:endParaRPr lang="en-US" sz="998" dirty="0"/>
          </a:p>
          <a:p>
            <a:pPr algn="l" marL="342900" indent="-342900">
              <a:lnSpc>
                <a:spcPts val="1337"/>
              </a:lnSpc>
              <a:buSzPct val="100000"/>
              <a:buChar char="•"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prevent overfitting, </a:t>
            </a:r>
            <a:pPr algn="l" indent="0" marL="0">
              <a:lnSpc>
                <a:spcPts val="1337"/>
              </a:lnSpc>
              <a:buNone/>
            </a:pPr>
            <a:r>
              <a:rPr lang="en-US" sz="998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Complexity Pruning </a:t>
            </a:r>
            <a:pPr algn="l" indent="0" marL="0">
              <a:lnSpc>
                <a:spcPts val="1337"/>
              </a:lnSpc>
              <a:buNone/>
            </a:pPr>
            <a:r>
              <a:rPr lang="en-US" sz="998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implemented. This technique introduces a penalty parameter (alpha) for the number of leaves.</a:t>
            </a:r>
            <a:endParaRPr lang="en-US" sz="99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738" y="1009650"/>
            <a:ext cx="2733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Non-WiFi Classifier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738188" y="1409700"/>
            <a:ext cx="617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The system achieved an Overall Accuracy of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95.8%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validation set.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overall results are displayed below: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19750" y="1619250"/>
            <a:ext cx="1990725" cy="17478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188" y="3481388"/>
            <a:ext cx="3890962" cy="762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8188" y="1804988"/>
            <a:ext cx="3871913" cy="16764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19750" y="3367088"/>
            <a:ext cx="2395538" cy="15668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9138" y="4262438"/>
            <a:ext cx="47386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Footprint: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trained tree structure consumes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kilobytes of RAM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much lighter than CNN or SVM models.</a:t>
            </a:r>
            <a:endParaRPr lang="en-US" sz="855" dirty="0"/>
          </a:p>
        </p:txBody>
      </p:sp>
      <p:sp>
        <p:nvSpPr>
          <p:cNvPr id="10" name="Text 4"/>
          <p:cNvSpPr/>
          <p:nvPr/>
        </p:nvSpPr>
        <p:spPr>
          <a:xfrm>
            <a:off x="719138" y="4586288"/>
            <a:ext cx="473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Zero-Impact Serving: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the processing is so fast, the additional radio can scan,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process, and classify in real-time without consuming airtime that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be dedicated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clients.</a:t>
            </a:r>
            <a:endParaRPr lang="en-US" sz="85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557588" y="666750"/>
            <a:ext cx="20288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Change Detection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4013" y="3105150"/>
            <a:ext cx="1447800" cy="68580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Channel Scan Scheduler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71913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Non-WiFi Classifier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7909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Change Detection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89" cy="8643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25188" cy="86439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701" cy="15501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2278">
            <a:off x="6454376" y="4810125"/>
            <a:ext cx="666754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09650"/>
            <a:ext cx="2452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Change Detection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810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609600" y="1433513"/>
            <a:ext cx="3786188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568" spc="-1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Metrics: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CCA Busy% &amp; Airtime: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Measures channel utilization and contention levels.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Floor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Tracks external, non-Wi-Fi interference power.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SNR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Monitors link quality and connection health.</a:t>
            </a:r>
            <a:endParaRPr lang="en-US" sz="1568" dirty="0"/>
          </a:p>
          <a:p>
            <a:pPr algn="l" indent="0" marL="0">
              <a:lnSpc>
                <a:spcPts val="2045"/>
              </a:lnSpc>
              <a:buNone/>
            </a:pPr>
            <a:r>
              <a:rPr lang="en-US" sz="1461" spc="-1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Methodology (The Detection Algorithms)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EWMA </a:t>
            </a:r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(Recursive Smoothing)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Filters high-frequency noise from the signal.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for: Congestion. Why: To ignore short traffic spikes and detect sustained loading.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CUSUM </a:t>
            </a:r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(Cumulative Sum)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Tracks the accumulated deviation from the mean over time.</a:t>
            </a:r>
            <a:endParaRPr lang="en-US" sz="1568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for: SNR. Why: Highly sensitive to sudden, persistent "step-drops" in link quality.</a:t>
            </a:r>
            <a:endParaRPr lang="en-US" sz="1568" dirty="0"/>
          </a:p>
        </p:txBody>
      </p:sp>
      <p:sp>
        <p:nvSpPr>
          <p:cNvPr id="5" name="Text 3"/>
          <p:cNvSpPr/>
          <p:nvPr/>
        </p:nvSpPr>
        <p:spPr>
          <a:xfrm>
            <a:off x="4572000" y="3190875"/>
            <a:ext cx="4462463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SPRT</a:t>
            </a:r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(Sequential Probability)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Calculates the likelihood ratio between "Normal" and "Interfered" states.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for: Noise Floor. Why: Mathematically optimal for rapid interference confirmation.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Page-Hinkley Test</a:t>
            </a:r>
            <a:pPr algn="l" indent="0" marL="0">
              <a:lnSpc>
                <a:spcPts val="1453"/>
              </a:lnSpc>
              <a:buNone/>
            </a:pPr>
            <a:r>
              <a:rPr lang="en-US" sz="1069" u="sng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Monitors the cumulative difference to detect drift.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for: All Metrics. Why: To spot slow, gradual degradation over long periods.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 rot="5400000">
            <a:off x="3414713" y="4167188"/>
            <a:ext cx="195262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016">
            <a:off x="609600" y="2909888"/>
            <a:ext cx="8120064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016">
            <a:off x="609600" y="3190875"/>
            <a:ext cx="8120064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459581" y="3045619"/>
            <a:ext cx="30003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8579644" y="3045619"/>
            <a:ext cx="300038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91138" y="1219200"/>
            <a:ext cx="3028950" cy="16525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9100" y="1643063"/>
            <a:ext cx="4752975" cy="259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413" y="1009650"/>
            <a:ext cx="2452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Change Detection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719138" y="609600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633413" y="1438275"/>
            <a:ext cx="3862387" cy="264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spc="-1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 Mechanism (False Alarm Reduction):</a:t>
            </a:r>
            <a:endParaRPr lang="en-US" sz="1425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2-of-4 Voting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Requires at least 2 metrics to trigger within a 3-frame window to validate an event.</a:t>
            </a:r>
            <a:endParaRPr lang="en-US" sz="1425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Debounce Filter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alert condition must persist for 2 consecutive frames to rule out glitches.</a:t>
            </a:r>
            <a:endParaRPr lang="en-US" sz="1425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Stitching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Merges rapid "flickering" detections into a single, continuous event.</a:t>
            </a:r>
            <a:endParaRPr lang="en-US" sz="1425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Cooldown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Enforces a ~30-second suppression period after an alert to prevent system spam</a:t>
            </a:r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1538" y="1004887"/>
            <a:ext cx="7405362" cy="3134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175" y="609600"/>
            <a:ext cx="2314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client_view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719138" y="3090863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57400" y="4019550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57575" y="3090863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72100" y="3090863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91388" y="3090863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89" cy="65008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41745" cy="157876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094332" cy="65008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11238" cy="650081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13" cy="65008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5396949">
            <a:off x="2350570" y="4836315"/>
            <a:ext cx="61435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850" y="595313"/>
            <a:ext cx="2314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client_view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338513" y="666750"/>
            <a:ext cx="27289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802.11k/v Roaming Assist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6388" y="3790950"/>
            <a:ext cx="1543050" cy="795338"/>
          </a:xfrm>
          <a:prstGeom prst="roundRect">
            <a:avLst>
              <a:gd name="adj" fmla="val 18395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802.11k/v Roaming Assist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71913" y="3105150"/>
            <a:ext cx="1557338" cy="857250"/>
          </a:xfrm>
          <a:prstGeom prst="roundRect">
            <a:avLst>
              <a:gd name="adj" fmla="val 128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802.11mc Interference Hotspots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Transport Layer QoE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89" cy="15501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84720" cy="86439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701" cy="8643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4691">
            <a:off x="2065732" y="4864894"/>
            <a:ext cx="557218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802.11k/v Roaming Assist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76788" y="1009650"/>
            <a:ext cx="37671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Data Acquisition and Storage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190500" y="1390650"/>
            <a:ext cx="4395788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b="1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measurement scheduler</a:t>
            </a:r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(802.11k requests)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i) Sends standardized LM requests to stations.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ii) Collects RSSI, link margin, client TX power, and antenna configuration.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iii) Handles stale detection, asynchronous report parsing, and DB updates.</a:t>
            </a:r>
            <a:endParaRPr lang="en-US" sz="1119" dirty="0"/>
          </a:p>
        </p:txBody>
      </p:sp>
      <p:sp>
        <p:nvSpPr>
          <p:cNvPr id="6" name="Text 4"/>
          <p:cNvSpPr/>
          <p:nvPr/>
        </p:nvSpPr>
        <p:spPr>
          <a:xfrm>
            <a:off x="4695825" y="1390650"/>
            <a:ext cx="423862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b="1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Beacon Measurement scheduler</a:t>
            </a:r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(802.11k beacon reports)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i) Issues beacon requests with operating class, channel, and duration parameters.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ii) Extracts RCPI, RSNI, channel utilization, station count, AP capabilities.</a:t>
            </a:r>
            <a:endParaRPr lang="en-US" sz="1119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iii) Performs multi-cycle aggregation to stabilize noisy beacon data.</a:t>
            </a:r>
            <a:endParaRPr lang="en-US" sz="1119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3143250"/>
            <a:ext cx="4395788" cy="13028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6788" y="3052763"/>
            <a:ext cx="4038600" cy="14811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802.11k/v Roaming Assist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4776788" y="1009650"/>
            <a:ext cx="3567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Client Quality of Experience 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371475" y="1447800"/>
            <a:ext cx="7229475" cy="123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17"/>
              </a:lnSpc>
              <a:buSzPct val="100000"/>
              <a:buFont typeface="+mj-lt"/>
              <a:buAutoNum type="arabicPeriod" startAt="1"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layer QoE evaluation considers 5 factors - 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i) 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Quality (S)</a:t>
            </a:r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RSSI mapped    linearly from –90→–30 dBm → [0,1].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ii) 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(T)</a:t>
            </a:r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geometric mean of TX/RX bitrates normalized to PHY rate.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iii) 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(R)</a:t>
            </a:r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composite metric from retry rate + FCS errors.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iv)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Latency (L):</a:t>
            </a:r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inactivity time mapped to responsiveness scores.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v) 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(A)</a:t>
            </a:r>
            <a:pPr algn="l" indent="0" marL="0">
              <a:lnSpc>
                <a:spcPts val="1317"/>
              </a:lnSpc>
              <a:buNone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frame count relative to reference load.</a:t>
            </a:r>
            <a:endParaRPr lang="en-US" sz="998" dirty="0"/>
          </a:p>
          <a:p>
            <a:pPr algn="l" marL="342900" indent="-342900">
              <a:lnSpc>
                <a:spcPts val="1317"/>
              </a:lnSpc>
              <a:buSzPct val="100000"/>
              <a:buFont typeface="+mj-lt"/>
              <a:buAutoNum type="arabicPeriod" startAt="1"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QoE updated every measurement cycle and stored with timestamped samples per action.</a:t>
            </a:r>
            <a:endParaRPr lang="en-US" sz="998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6813" y="2776538"/>
            <a:ext cx="3919537" cy="220503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213" y="2914650"/>
            <a:ext cx="4124325" cy="1985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802.11k/v Roaming Assist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4776788" y="1009650"/>
            <a:ext cx="3567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Neighbor Ranking Algorithm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143500" y="1976438"/>
            <a:ext cx="3662362" cy="214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Measurements are aggregated across multiple cycles per BSSID to smooth out noise, using averaged RSSI and load with the latest capability info before computing scores.</a:t>
            </a:r>
            <a:endParaRPr lang="en-US" sz="1119" dirty="0"/>
          </a:p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neighbors are sorted by score and filtered with guardrails such as minimum RSSI, 5 GHz preference over 2.4 GHz when close, and same-SSID constraint, then stored as the ranked candidate list used by the steering engine. </a:t>
            </a:r>
            <a:endParaRPr lang="en-US" sz="1119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6713" y="1338263"/>
            <a:ext cx="4776788" cy="127158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" y="2609850"/>
            <a:ext cx="3433763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850" y="595313"/>
            <a:ext cx="2314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client_view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338513" y="666750"/>
            <a:ext cx="27289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802.11k/v Roaming Assist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6388" y="3105150"/>
            <a:ext cx="1543050" cy="795338"/>
          </a:xfrm>
          <a:prstGeom prst="roundRect">
            <a:avLst>
              <a:gd name="adj" fmla="val 1839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802.11k/v Roaming Assist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71913" y="3733800"/>
            <a:ext cx="1557338" cy="85725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802.11mc Interference Hotspots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105150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Transport Layer QoE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71" cy="8643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84710" cy="149304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692" cy="8643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4691">
            <a:off x="4375544" y="4864894"/>
            <a:ext cx="557218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802.11mc Interference Hotspots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600700" y="10096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Data Acquisition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128588" y="2224088"/>
            <a:ext cx="365283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5"/>
              </a:lnSpc>
              <a:buSzPct val="100000"/>
              <a:buFont typeface="+mj-lt"/>
              <a:buAutoNum type="arabicPeriod" startAt="1"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802.11mc Wi-Fi RTT measures true time-of-flight distance to APs, independent of transmit power or antenna effects, unlike RSSI.</a:t>
            </a:r>
            <a:endParaRPr lang="en-US" sz="1140" dirty="0"/>
          </a:p>
          <a:p>
            <a:pPr algn="l" marL="342900" indent="-342900">
              <a:lnSpc>
                <a:spcPts val="1505"/>
              </a:lnSpc>
              <a:buSzPct val="100000"/>
              <a:buFont typeface="+mj-lt"/>
              <a:buAutoNum type="arabicPeriod" startAt="1"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FTM report contains timestamp, logical AP ID, floor ID, distance, measurement uncertainty (stddev), quality flag, and a rotating session ID, with no MAC, BSSID, or coordinates stored to maintain privacy.</a:t>
            </a:r>
            <a:endParaRPr lang="en-US" sz="114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14850" y="1347788"/>
            <a:ext cx="4005262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802.11mc Interference Hotspots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600700" y="10096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Interference Hotspots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490538" y="1433513"/>
            <a:ext cx="851535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17"/>
              </a:lnSpc>
              <a:buSzPct val="100000"/>
              <a:buFont typeface="+mj-lt"/>
              <a:buAutoNum type="arabicPeriod" startAt="1"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RTT highlights interference hotspots because multipath and NLOS (Non-Line-Of-Sight) regions create large variance and higher distance uncertainty, while clean LOS areas produce tight and stable measurements.</a:t>
            </a:r>
            <a:endParaRPr lang="en-US" sz="998" dirty="0"/>
          </a:p>
          <a:p>
            <a:pPr algn="l" marL="342900" indent="-342900">
              <a:lnSpc>
                <a:spcPts val="1317"/>
              </a:lnSpc>
              <a:buSzPct val="100000"/>
              <a:buFont typeface="+mj-lt"/>
              <a:buAutoNum type="arabicPeriod" startAt="1"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Tile assignment is performed by comparing the measured distance with geometric AP-to-tile distances and selecting the tile where the difference falls within the uncertainty margin, and only the tile ID is stored.</a:t>
            </a:r>
            <a:endParaRPr lang="en-US" sz="998" dirty="0"/>
          </a:p>
          <a:p>
            <a:pPr algn="l" marL="342900" indent="-342900">
              <a:lnSpc>
                <a:spcPts val="1317"/>
              </a:lnSpc>
              <a:buSzPct val="100000"/>
              <a:buFont typeface="+mj-lt"/>
              <a:buAutoNum type="arabicPeriod" startAt="1"/>
            </a:pPr>
            <a:r>
              <a:rPr lang="en-US" sz="998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is preserved through tile-level storage, five-minute aggregation windows, and hourly session-ID rotation, preventing position reconstruction while still supporting reliable RF and interference analytics.</a:t>
            </a:r>
            <a:endParaRPr lang="en-US" sz="998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738" y="2571750"/>
            <a:ext cx="2786063" cy="2466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1375" y="2609850"/>
            <a:ext cx="2728913" cy="242887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10288" y="2686050"/>
            <a:ext cx="2895600" cy="22336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850" y="595313"/>
            <a:ext cx="2314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client_view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3548063" y="666750"/>
            <a:ext cx="23050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Transport Layer QoE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1671638" y="1543050"/>
            <a:ext cx="1347788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6388" y="3105150"/>
            <a:ext cx="1543050" cy="795338"/>
          </a:xfrm>
          <a:prstGeom prst="roundRect">
            <a:avLst>
              <a:gd name="adj" fmla="val 1839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802.11k/v Roaming Assist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71913" y="3105150"/>
            <a:ext cx="1557338" cy="857250"/>
          </a:xfrm>
          <a:prstGeom prst="roundRect">
            <a:avLst>
              <a:gd name="adj" fmla="val 1280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802.11mc Interference Hotspots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3900488"/>
            <a:ext cx="143827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Transport Layer QoE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5531" y="2219325"/>
            <a:ext cx="140283" cy="8643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5531" y="2219325"/>
            <a:ext cx="2384717" cy="86439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5531" y="2219325"/>
            <a:ext cx="4520698" cy="165973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14691">
            <a:off x="6509144" y="4864894"/>
            <a:ext cx="557218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Transport Layer QoE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600700" y="10096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Data Acquisition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338138" y="2181225"/>
            <a:ext cx="4081463" cy="2200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505"/>
              </a:lnSpc>
              <a:buSzPct val="100000"/>
              <a:buFont typeface="+mj-lt"/>
              <a:buAutoNum type="arabicPeriod" startAt="1"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TCP-level performance extractor monitors live traffic using tcpdump-based packet capture to observe real transport behaviour without modifying client devices.</a:t>
            </a:r>
            <a:endParaRPr lang="en-US" sz="1140" dirty="0"/>
          </a:p>
          <a:p>
            <a:pPr algn="l" marL="342900" indent="-342900">
              <a:lnSpc>
                <a:spcPts val="1505"/>
              </a:lnSpc>
              <a:buSzPct val="100000"/>
              <a:buFont typeface="+mj-lt"/>
              <a:buAutoNum type="arabicPeriod" startAt="1"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Parsed packet streams provide RTT, jitter, packet loss, achieved throughput, and congestion characteristics.</a:t>
            </a:r>
            <a:endParaRPr lang="en-US" sz="1140" dirty="0"/>
          </a:p>
          <a:p>
            <a:pPr algn="l" marL="342900" indent="-342900">
              <a:lnSpc>
                <a:spcPts val="1505"/>
              </a:lnSpc>
              <a:buSzPct val="100000"/>
              <a:buFont typeface="+mj-lt"/>
              <a:buAutoNum type="arabicPeriod" startAt="1"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measurement is timestamped and stored per station, allowing correlation with RF metrics, QoE history, and steering actions across the pipeline.</a:t>
            </a:r>
            <a:endParaRPr lang="en-US" sz="1140" dirty="0"/>
          </a:p>
          <a:p>
            <a:pPr algn="l" indent="0" marL="0">
              <a:lnSpc>
                <a:spcPts val="1505"/>
              </a:lnSpc>
              <a:buNone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endParaRPr lang="en-US" sz="114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6850" y="1524000"/>
            <a:ext cx="3267075" cy="31765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Transport Layer QoE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600700" y="1009650"/>
            <a:ext cx="2943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QoE Parameters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200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client_view</a:t>
            </a:r>
            <a:endParaRPr lang="en-US" sz="22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10013" y="1352550"/>
            <a:ext cx="3938588" cy="20716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5288" y="1352550"/>
            <a:ext cx="3405188" cy="36528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0475" y="3486150"/>
            <a:ext cx="5243513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QoE converts TCP latency, jitter, loss, and throughput into normalized 0–1 sub-scores representing true application performance.</a:t>
            </a:r>
            <a:endParaRPr lang="en-US" sz="1119" dirty="0"/>
          </a:p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and jitter scores decrease smoothly with increasing delay, capturing congestion or path instability.</a:t>
            </a:r>
            <a:endParaRPr lang="en-US" sz="1119" dirty="0"/>
          </a:p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loss contributes a strong penalty reflecting retransmissions and degraded flow quality.</a:t>
            </a:r>
            <a:endParaRPr lang="en-US" sz="1119" dirty="0"/>
          </a:p>
          <a:p>
            <a:pPr algn="l" marL="342900" indent="-342900">
              <a:lnSpc>
                <a:spcPts val="1478"/>
              </a:lnSpc>
              <a:buSzPct val="100000"/>
              <a:buFont typeface="+mj-lt"/>
              <a:buAutoNum type="arabicPeriod" startAt="1"/>
            </a:pPr>
            <a:r>
              <a:rPr lang="en-US" sz="1119" spc="-2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throughput is normalized against an expected reference rate so improvements saturate and drops are reflected clearly.</a:t>
            </a:r>
            <a:endParaRPr lang="en-US" sz="111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3090863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7875" y="3090863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2825" y="4019550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72100" y="3090863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91388" y="3090863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84" cy="65008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32217" cy="650081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189580" cy="1578769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11236" cy="650081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09" cy="65008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816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sp>
        <p:nvSpPr>
          <p:cNvPr id="14" name="Shape 7"/>
          <p:cNvSpPr/>
          <p:nvPr/>
        </p:nvSpPr>
        <p:spPr>
          <a:xfrm rot="5396949">
            <a:off x="4098408" y="4841077"/>
            <a:ext cx="61435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Planner-Propose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672013" y="595313"/>
            <a:ext cx="14763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Policy Engine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890588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62300" y="3233738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2038" y="3790950"/>
            <a:ext cx="1295400" cy="557213"/>
          </a:xfrm>
          <a:prstGeom prst="roundRect">
            <a:avLst>
              <a:gd name="adj" fmla="val 26256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Policy Engine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10138" y="3233738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Safe RL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05625" y="3233738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Uplift Modelling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9738" y="2281238"/>
            <a:ext cx="2129921" cy="93106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09738" y="2281238"/>
            <a:ext cx="3903952" cy="93106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09738" y="2281238"/>
            <a:ext cx="5994690" cy="93106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5400000">
            <a:off x="1309688" y="4743450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09738" y="2281238"/>
            <a:ext cx="140280" cy="14882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Policy Engine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557213" y="156686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1524000" y="1557338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the SLO Catalog around how real Wi-Fi behaves in dense, high-variance environments.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make the system stable and predictable we made the following design choices: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557213" y="2443163"/>
            <a:ext cx="2066925" cy="1062038"/>
          </a:xfrm>
          <a:prstGeom prst="roundRect">
            <a:avLst>
              <a:gd name="adj" fmla="val 13776"/>
            </a:avLst>
          </a:prstGeom>
          <a:solidFill>
            <a:srgbClr val="CFCFC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Captured tail behavior using P95 for RSSI, SNR, PER, and Retry. Networks fail at the tail, not the average; a few bad clients can destabilize an entire BSS.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28925" y="2443163"/>
            <a:ext cx="2066925" cy="1062038"/>
          </a:xfrm>
          <a:prstGeom prst="roundRect">
            <a:avLst>
              <a:gd name="adj" fmla="val 13776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Used P50 for congestion metrics like Airtime and CCA. These fluctuate rapidly. P95 would trigger unnecessary changes and cause oscillations.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7213" y="3709988"/>
            <a:ext cx="2066925" cy="1062038"/>
          </a:xfrm>
          <a:prstGeom prst="roundRect">
            <a:avLst>
              <a:gd name="adj" fmla="val 13776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Normalized QoE components within true PHY boundaries according to the actual 802.11 operational limits and ensure meaningful scoring.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828925" y="3709988"/>
            <a:ext cx="2066925" cy="1062038"/>
          </a:xfrm>
          <a:prstGeom prst="roundRect">
            <a:avLst>
              <a:gd name="adj" fmla="val 13776"/>
            </a:avLst>
          </a:prstGeom>
          <a:solidFill>
            <a:srgbClr val="CFCFC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Introduced a penalty model to keep Safe-BO gradients stable and actions predictable.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34075" y="3157538"/>
            <a:ext cx="1976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flowchart will come here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5991225" y="3352800"/>
            <a:ext cx="1866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overall policy engine flowchart</a:t>
            </a:r>
            <a:endParaRPr lang="en-US" sz="85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3538" y="2033588"/>
            <a:ext cx="3214688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Planner-Propose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333875" y="595313"/>
            <a:ext cx="21526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Bayesian Optimizer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890588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3713" y="3790950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2038" y="3233738"/>
            <a:ext cx="1295400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Policy Engine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10138" y="3233738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Safe RL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05625" y="3233738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Uplift Modelling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9738" y="2281238"/>
            <a:ext cx="2001334" cy="148828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09738" y="2281238"/>
            <a:ext cx="3903952" cy="93106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09738" y="2281238"/>
            <a:ext cx="5994690" cy="93106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5400000">
            <a:off x="3233738" y="4743450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09738" y="2281238"/>
            <a:ext cx="140280" cy="9310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Bayesian Optimizer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9213" y="1352550"/>
            <a:ext cx="6781800" cy="37004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Bayesian Optimizer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557213" y="156686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524000" y="1557338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Bayesian Optimizer uses Gaussian Process (GP) surrogates, and initial set of safe states and rewards based on QoS/SLO percentiles 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557213" y="2090738"/>
            <a:ext cx="8110537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start off with a set of “safe” states that are configurations that do not violate the given constraints.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reward and each constraint margin, we fit independent GPs by maximizing GP log marginal likelihood.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GPs give a posterior distribution over each constraints for a new configuration that we use to compute the probability that the constraint will be violated.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this, for a given confidence level, we generate a safe set of candidate configurations and choose the one with the maximum Expected Improvement.</a:t>
            </a:r>
            <a:endParaRPr lang="en-US" sz="1211" dirty="0"/>
          </a:p>
        </p:txBody>
      </p:sp>
      <p:sp>
        <p:nvSpPr>
          <p:cNvPr id="7" name="Text 5"/>
          <p:cNvSpPr/>
          <p:nvPr/>
        </p:nvSpPr>
        <p:spPr>
          <a:xfrm>
            <a:off x="557213" y="3619500"/>
            <a:ext cx="74771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Expected Improvement uses an exploration shift, given by the exploration parameter.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higher exploration parameter raises the Expected Reward threshold which would mean that we give more importance to states that have a higher expected reward or higher uncertainty, and a lower exploration parameter would mean that we are exploiting known safe states because even a marginal improvement would be within the threshold.</a:t>
            </a:r>
            <a:endParaRPr lang="en-US" sz="128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Planner-Propose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986338" y="595313"/>
            <a:ext cx="8477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Safe RL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890588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3713" y="3233738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2038" y="3233738"/>
            <a:ext cx="1295400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Policy Engine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10138" y="3790950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Safe RL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05625" y="3233738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Uplift Modelling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9738" y="2281238"/>
            <a:ext cx="2001338" cy="93106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09738" y="2281238"/>
            <a:ext cx="3903957" cy="1488281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09738" y="2281238"/>
            <a:ext cx="5994695" cy="93106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5400000">
            <a:off x="5133975" y="4743450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09738" y="2281238"/>
            <a:ext cx="140289" cy="93106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Safe RL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576263" y="1462088"/>
            <a:ext cx="56149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3"/>
              </a:lnSpc>
              <a:buNone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</a:t>
            </a:r>
            <a:pPr algn="l" indent="0" marL="0">
              <a:lnSpc>
                <a:spcPts val="1703"/>
              </a:lnSpc>
              <a:buNone/>
            </a:pPr>
            <a:r>
              <a:rPr lang="en-US" sz="1217" b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standardized metrics</a:t>
            </a:r>
            <a:pPr algn="l" indent="0" marL="0">
              <a:lnSpc>
                <a:spcPts val="1703"/>
              </a:lnSpc>
              <a:buNone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capture the complete network state: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client_count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median_rssi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p95_retry_rate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p95_per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channel_utilization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avg_throughput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edge_p10_throughput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roaming_rate</a:t>
            </a:r>
            <a:endParaRPr lang="en-US" sz="1217" dirty="0"/>
          </a:p>
          <a:p>
            <a:pPr algn="l" indent="0" marL="0">
              <a:lnSpc>
                <a:spcPts val="1703"/>
              </a:lnSpc>
              <a:buNone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selects from a strictly defined set of </a:t>
            </a:r>
            <a:pPr algn="l" indent="0" marL="0">
              <a:lnSpc>
                <a:spcPts val="1703"/>
              </a:lnSpc>
              <a:buNone/>
            </a:pPr>
            <a:r>
              <a:rPr lang="en-US" sz="1217" b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actions</a:t>
            </a:r>
            <a:pPr algn="l" indent="0" marL="0">
              <a:lnSpc>
                <a:spcPts val="1703"/>
              </a:lnSpc>
              <a:buNone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applied in real-time: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i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 Power (±2 dBm)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i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Increase/Decrease Channel Number (DFS-compliant channel switch)</a:t>
            </a:r>
            <a:pPr algn="l" indent="0" marL="0">
              <a:lnSpc>
                <a:spcPts val="1703"/>
              </a:lnSpc>
              <a:buNone/>
            </a:pPr>
            <a:r>
              <a:rPr lang="en-US" sz="1217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pPr algn="l" indent="0" marL="0">
              <a:lnSpc>
                <a:spcPts val="1703"/>
              </a:lnSpc>
              <a:buNone/>
            </a:pPr>
            <a:r>
              <a:rPr lang="en-US" sz="1217" i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17" dirty="0"/>
          </a:p>
          <a:p>
            <a:pPr algn="l" marL="342900" indent="-342900">
              <a:lnSpc>
                <a:spcPts val="1703"/>
              </a:lnSpc>
              <a:buSzPct val="100000"/>
              <a:buChar char="•"/>
            </a:pPr>
            <a:r>
              <a:rPr lang="en-US" sz="1217" i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Increase/Decrease Channel Width(Bandwidth switching) (20↔40↔80 MHz), </a:t>
            </a:r>
            <a:endParaRPr lang="en-US" sz="1217" dirty="0"/>
          </a:p>
        </p:txBody>
      </p:sp>
      <p:sp>
        <p:nvSpPr>
          <p:cNvPr id="5" name="Text 3"/>
          <p:cNvSpPr/>
          <p:nvPr/>
        </p:nvSpPr>
        <p:spPr>
          <a:xfrm>
            <a:off x="66675" y="6543675"/>
            <a:ext cx="838200" cy="838200"/>
          </a:xfrm>
          <a:prstGeom prst="rect">
            <a:avLst/>
          </a:prstGeom>
          <a:solidFill>
            <a:srgbClr val="0887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0" y="1862138"/>
            <a:ext cx="3224213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neighbor_ap_rssi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obss_pd_threshold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tx_power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noise_floor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channel_width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airtime_usage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cca_busy.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081713" y="4200525"/>
            <a:ext cx="257175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i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OBSS-PD (±4 dBm)</a:t>
            </a:r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17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Stability: </a:t>
            </a:r>
            <a:pPr algn="l" indent="0" marL="0">
              <a:lnSpc>
                <a:spcPts val="1703"/>
              </a:lnSpc>
              <a:buNone/>
            </a:pPr>
            <a:r>
              <a:rPr lang="en-US" sz="1217" i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No-op (Do nothing).</a:t>
            </a:r>
            <a:endParaRPr lang="en-US" sz="128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Safe RL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557213" y="1490663"/>
            <a:ext cx="8110537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6"/>
              </a:lnSpc>
              <a:buNone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objective isn't just speed it's reliable speed so the reward function is bounded and </a:t>
            </a:r>
            <a:pPr algn="l" indent="0" marL="0">
              <a:lnSpc>
                <a:spcPts val="1696"/>
              </a:lnSpc>
              <a:buNone/>
            </a:pPr>
            <a:r>
              <a:rPr lang="en-US" sz="1211" b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sum</a:t>
            </a:r>
            <a:pPr algn="l" indent="0" marL="0">
              <a:lnSpc>
                <a:spcPts val="1696"/>
              </a:lnSpc>
              <a:buNone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of: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Drivers (+):</a:t>
            </a:r>
            <a:endParaRPr lang="en-US" sz="1211" dirty="0"/>
          </a:p>
          <a:p>
            <a:pPr algn="l" lvl="1" marL="6858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Throughput (+35%)</a:t>
            </a:r>
            <a:endParaRPr lang="en-US" sz="1211" dirty="0"/>
          </a:p>
          <a:p>
            <a:pPr algn="l" lvl="1" marL="6858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Throughput (+15%) &amp; RSSI Quality (+10%).</a:t>
            </a:r>
            <a:endParaRPr lang="en-US" sz="1211" dirty="0"/>
          </a:p>
          <a:p>
            <a:pPr algn="l" lvl="1" marL="6858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(+15%)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Penalties (-):</a:t>
            </a:r>
            <a:endParaRPr lang="en-US" sz="1211" dirty="0"/>
          </a:p>
          <a:p>
            <a:pPr algn="l" lvl="1" marL="6858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Rate (-25%) &amp; Packet Error Rate (-15%).</a:t>
            </a:r>
            <a:endParaRPr lang="en-US" sz="1211" dirty="0"/>
          </a:p>
          <a:p>
            <a:pPr algn="l" lvl="1" marL="6858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Churn (-10%)</a:t>
            </a:r>
            <a:endParaRPr lang="en-US" sz="1211" dirty="0"/>
          </a:p>
          <a:p>
            <a:pPr algn="l" indent="0" marL="0">
              <a:lnSpc>
                <a:spcPts val="1696"/>
              </a:lnSpc>
              <a:buNone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1696"/>
              </a:lnSpc>
              <a:buNone/>
            </a:pPr>
            <a:r>
              <a:rPr lang="en-US" sz="1211" b="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Safety</a:t>
            </a:r>
            <a:pPr algn="l" indent="0" marL="0">
              <a:lnSpc>
                <a:spcPts val="1696"/>
              </a:lnSpc>
              <a:buNone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that SafeRL never hallucinates a dangerous config, we use a 3-tier hierarchy: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(Hard Boundaries): Absolute regulatory limits. Violation = Immediate Prohibition.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 (The Shield): A protective envelope</a:t>
            </a:r>
            <a:endParaRPr lang="en-US" sz="1211" dirty="0"/>
          </a:p>
          <a:p>
            <a:pPr algn="l" marL="342900" indent="-342900">
              <a:lnSpc>
                <a:spcPts val="1696"/>
              </a:lnSpc>
              <a:buSzPct val="100000"/>
              <a:buChar char="•"/>
            </a:pPr>
            <a:r>
              <a:rPr lang="en-US" sz="1211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 (Behavioral): Soft constraints that guide the agent via reward penalties rather than hard blocks.</a:t>
            </a:r>
            <a:endParaRPr lang="en-US" sz="121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Safe RL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81125" y="1352550"/>
            <a:ext cx="6381750" cy="34813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86213" y="2752725"/>
            <a:ext cx="4357688" cy="18859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1988" y="2752725"/>
            <a:ext cx="3167063" cy="18859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23988" y="1009650"/>
            <a:ext cx="6291263" cy="1857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14363" y="6667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Safe RL</a:t>
            </a:r>
            <a:endParaRPr lang="en-US" sz="2138" dirty="0"/>
          </a:p>
        </p:txBody>
      </p:sp>
      <p:sp>
        <p:nvSpPr>
          <p:cNvPr id="6" name="Text 1"/>
          <p:cNvSpPr/>
          <p:nvPr/>
        </p:nvSpPr>
        <p:spPr>
          <a:xfrm>
            <a:off x="4386263" y="700088"/>
            <a:ext cx="39576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8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Model Comparision</a:t>
            </a:r>
            <a:endParaRPr lang="en-US" sz="1710" dirty="0"/>
          </a:p>
        </p:txBody>
      </p:sp>
      <p:sp>
        <p:nvSpPr>
          <p:cNvPr id="7" name="Text 2"/>
          <p:cNvSpPr/>
          <p:nvPr/>
        </p:nvSpPr>
        <p:spPr>
          <a:xfrm>
            <a:off x="614363" y="2667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Planner-Propose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519613" y="595313"/>
            <a:ext cx="17811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Uplift Modelling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890588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3713" y="3233738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2038" y="3233738"/>
            <a:ext cx="1295400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Policy Engine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10138" y="3233738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Safe RL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05625" y="3790950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Uplift Modelling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9738" y="2281238"/>
            <a:ext cx="2001338" cy="93106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09738" y="2281238"/>
            <a:ext cx="3903957" cy="931069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09738" y="2281238"/>
            <a:ext cx="5994695" cy="148828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5400000">
            <a:off x="7224713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09738" y="2281238"/>
            <a:ext cx="140289" cy="93106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Uplift Modelling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Planner-Propose</a:t>
            </a:r>
            <a:endParaRPr lang="en-US" sz="22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9225" y="1352550"/>
            <a:ext cx="6300788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8588" y="695325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Channel Scan Scheduler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4572000" y="695325"/>
            <a:ext cx="32432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8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Results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214313" y="295275"/>
            <a:ext cx="17287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Sensing</a:t>
            </a:r>
            <a:endParaRPr lang="en-US" sz="228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00250" y="1657350"/>
            <a:ext cx="476250" cy="4762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013" y="1928813"/>
            <a:ext cx="2928938" cy="18478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6475" y="2019300"/>
            <a:ext cx="3057525" cy="193833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3738" y="1743075"/>
            <a:ext cx="2671763" cy="221456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8" y="3090863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7875" y="3090863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7575" y="3090863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4963" y="4019550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91388" y="3090863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71" cy="65008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32210" cy="650081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094323" cy="650081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54092" cy="1578769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04" cy="65008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1500" y="609600"/>
            <a:ext cx="29479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Planner-Commit</a:t>
            </a:r>
            <a:endParaRPr lang="en-US" sz="2280" dirty="0"/>
          </a:p>
        </p:txBody>
      </p:sp>
      <p:sp>
        <p:nvSpPr>
          <p:cNvPr id="14" name="Shape 7"/>
          <p:cNvSpPr/>
          <p:nvPr/>
        </p:nvSpPr>
        <p:spPr>
          <a:xfrm rot="5396949">
            <a:off x="5965308" y="4841077"/>
            <a:ext cx="61435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Planner-Commit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843463" y="595313"/>
            <a:ext cx="11382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Guardrails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85838" y="3790950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Guardrails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4225" y="3233738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Audit Trails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7388" y="3233738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Rollback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71" cy="148828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441860" cy="931069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85913" y="2281238"/>
            <a:ext cx="4980273" cy="93106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00000">
            <a:off x="1185863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2263" y="2119313"/>
            <a:ext cx="1976438" cy="18097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3913" y="2119313"/>
            <a:ext cx="1976438" cy="18097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95563" y="2119313"/>
            <a:ext cx="1976438" cy="1809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Guardrails</a:t>
            </a:r>
            <a:endParaRPr lang="en-US" sz="2138" dirty="0"/>
          </a:p>
        </p:txBody>
      </p:sp>
      <p:sp>
        <p:nvSpPr>
          <p:cNvPr id="6" name="Text 1"/>
          <p:cNvSpPr/>
          <p:nvPr/>
        </p:nvSpPr>
        <p:spPr>
          <a:xfrm>
            <a:off x="557213" y="609600"/>
            <a:ext cx="29479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Planner-Commit</a:t>
            </a:r>
            <a:endParaRPr lang="en-US" sz="2280" dirty="0"/>
          </a:p>
        </p:txBody>
      </p:sp>
      <p:sp>
        <p:nvSpPr>
          <p:cNvPr id="7" name="Text 2"/>
          <p:cNvSpPr/>
          <p:nvPr/>
        </p:nvSpPr>
        <p:spPr>
          <a:xfrm>
            <a:off x="566738" y="1514475"/>
            <a:ext cx="828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recommended action passes through regulatory, role-based, system-level, and privacy/compliance checks before it can be applied. This includes:</a:t>
            </a:r>
            <a:endParaRPr lang="en-US" sz="1283" dirty="0"/>
          </a:p>
        </p:txBody>
      </p:sp>
      <p:sp>
        <p:nvSpPr>
          <p:cNvPr id="8" name="Text 3"/>
          <p:cNvSpPr/>
          <p:nvPr/>
        </p:nvSpPr>
        <p:spPr>
          <a:xfrm>
            <a:off x="6800850" y="2290763"/>
            <a:ext cx="17907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&amp; compliance constraints: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ensuring opt-outs are honored, identifiers stay pseudonymized, and no action relies on restricted data.</a:t>
            </a:r>
            <a:endParaRPr lang="en-US" sz="1069" dirty="0"/>
          </a:p>
        </p:txBody>
      </p:sp>
      <p:sp>
        <p:nvSpPr>
          <p:cNvPr id="9" name="Text 4"/>
          <p:cNvSpPr/>
          <p:nvPr/>
        </p:nvSpPr>
        <p:spPr>
          <a:xfrm>
            <a:off x="4748213" y="2290763"/>
            <a:ext cx="1747838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constraints: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severity tiers (info → warning → critical), churn limits (&lt;0.2 config changes/AP/day), safe-state prechecks, and rollback triggers. </a:t>
            </a:r>
            <a:endParaRPr lang="en-US" sz="1069" dirty="0"/>
          </a:p>
        </p:txBody>
      </p:sp>
      <p:sp>
        <p:nvSpPr>
          <p:cNvPr id="10" name="Text 5"/>
          <p:cNvSpPr/>
          <p:nvPr/>
        </p:nvSpPr>
        <p:spPr>
          <a:xfrm>
            <a:off x="2709863" y="2290763"/>
            <a:ext cx="17811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constraints: 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allowable channel widths per role (e.g., the role ExamHallStrict locked to 20 MHz), power caps, and per-metric severity expectations from the SLO catalog. </a:t>
            </a:r>
            <a:endParaRPr lang="en-US" sz="1069" dirty="0"/>
          </a:p>
        </p:txBody>
      </p:sp>
      <p:sp>
        <p:nvSpPr>
          <p:cNvPr id="11" name="Shape 6"/>
          <p:cNvSpPr/>
          <p:nvPr/>
        </p:nvSpPr>
        <p:spPr>
          <a:xfrm>
            <a:off x="557213" y="2119313"/>
            <a:ext cx="1976438" cy="1809750"/>
          </a:xfrm>
          <a:prstGeom prst="roundRect">
            <a:avLst>
              <a:gd name="adj" fmla="val 25263"/>
            </a:avLst>
          </a:prstGeom>
          <a:solidFill>
            <a:srgbClr val="CFCFCF"/>
          </a:solidFill>
          <a:ln/>
        </p:spPr>
      </p:sp>
      <p:sp>
        <p:nvSpPr>
          <p:cNvPr id="12" name="Text 7"/>
          <p:cNvSpPr/>
          <p:nvPr/>
        </p:nvSpPr>
        <p:spPr>
          <a:xfrm>
            <a:off x="661988" y="2290763"/>
            <a:ext cx="1766888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limits: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EIRP caps, DFS requirements, AFC checks for 6 GHz, country-code enforcement, and channel availability rules. </a:t>
            </a:r>
            <a:endParaRPr lang="en-US" sz="1069" dirty="0"/>
          </a:p>
        </p:txBody>
      </p:sp>
      <p:sp>
        <p:nvSpPr>
          <p:cNvPr id="13" name="Text 8"/>
          <p:cNvSpPr/>
          <p:nvPr/>
        </p:nvSpPr>
        <p:spPr>
          <a:xfrm>
            <a:off x="557213" y="4057650"/>
            <a:ext cx="8134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prevent the system from applying unsafe or non-compliant changes, even if optimizers try to. Only safe, justified, and audit-ready actions are allowed through.</a:t>
            </a:r>
            <a:endParaRPr lang="en-US" sz="1283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Planner-Commit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791075" y="595313"/>
            <a:ext cx="12430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Audit Trails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0600" y="3233738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Guardrails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4225" y="3790950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Audit Trails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7388" y="3233738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Rollback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83" cy="931069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441867" cy="1488281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85913" y="2281238"/>
            <a:ext cx="4980279" cy="93106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00000">
            <a:off x="3548063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1250" y="1819275"/>
            <a:ext cx="2457450" cy="2286000"/>
          </a:xfrm>
          <a:prstGeom prst="rect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Audit Trails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609600"/>
            <a:ext cx="29479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Planner-Commit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557213" y="1514475"/>
            <a:ext cx="8324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audit trail serves as a complete, reconstructable explanation of every recommendation the system makes.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557213" y="2157413"/>
            <a:ext cx="46101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evaluation produces an append-only, cryptographically signed audit record that includes the full decision context: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pseudonymized identifiers (never raw MACs),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percentiles and telemetry snapshot used in the evaluation,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QoE components, penalties, margins, and severity classification,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 pass/fail results,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recommended action or no-action decision,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Safe-BO reward, and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rollback token that links to the previous config state.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6557963" y="1933575"/>
            <a:ext cx="1709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audit record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6343650" y="2228850"/>
            <a:ext cx="2143125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"id": "eval_87341",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"percentiles": { ... },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"qoe": 0.82,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"penalties": { "retry": 0.14 },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"action": "SteerClient",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"rollback_token": "prev_87230",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"signature": "HMAC(...)"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557213" y="4152900"/>
            <a:ext cx="8324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also ensures the system is tamper-evident, privacy-preserving, and fully compliant with operational and regulatory requirements.</a:t>
            </a:r>
            <a:endParaRPr lang="en-US" sz="1283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Planner-Commit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938713" y="595313"/>
            <a:ext cx="94773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Rollback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0600" y="3233738"/>
            <a:ext cx="1195388" cy="557213"/>
          </a:xfrm>
          <a:prstGeom prst="roundRect">
            <a:avLst>
              <a:gd name="adj" fmla="val 26256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Guardrails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4225" y="3233738"/>
            <a:ext cx="1247775" cy="557213"/>
          </a:xfrm>
          <a:prstGeom prst="roundRect">
            <a:avLst>
              <a:gd name="adj" fmla="val 19692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Audit Trails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7388" y="3790950"/>
            <a:ext cx="1438275" cy="557213"/>
          </a:xfrm>
          <a:prstGeom prst="roundRect">
            <a:avLst>
              <a:gd name="adj" fmla="val 19692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Rollback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84" cy="931069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441867" cy="931069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85913" y="2281238"/>
            <a:ext cx="4980280" cy="148828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rot="5400000">
            <a:off x="6086475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Rollback Mechanism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29479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Planner-Commit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557213" y="1509713"/>
            <a:ext cx="819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configuration change generated by the Policy Engine is paired with a rollback token that captures the previous state, its QoE evaluation, penalties, margins, and guardrail results at the moment it was applied.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new configuration reduces QoE, increases violation severity, or fails any guardrail, the rollback token is activated. The system immediately restores the last known “good” configuration, ensuring stability and continuity.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2933700" y="3667125"/>
            <a:ext cx="838200" cy="304800"/>
          </a:xfrm>
          <a:prstGeom prst="roundRect">
            <a:avLst>
              <a:gd name="adj" fmla="val 18000"/>
            </a:avLst>
          </a:prstGeom>
          <a:solidFill>
            <a:srgbClr val="C2E5FF"/>
          </a:solidFill>
          <a:ln w="18097">
            <a:solidFill>
              <a:srgbClr val="3DAD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Apply action  (new configuration)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0" y="3095625"/>
            <a:ext cx="1524000" cy="1447800"/>
          </a:xfrm>
          <a:prstGeom prst="diamond">
            <a:avLst/>
          </a:prstGeom>
          <a:solidFill>
            <a:srgbClr val="FFC7C2"/>
          </a:solidFill>
          <a:ln w="18097">
            <a:solidFill>
              <a:srgbClr val="F248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Evaluate live state QoE change Penalties trend Constraint margins Guardrail checks BO reward direction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14500" y="3667125"/>
            <a:ext cx="838200" cy="304800"/>
          </a:xfrm>
          <a:prstGeom prst="roundRect">
            <a:avLst>
              <a:gd name="adj" fmla="val 18000"/>
            </a:avLst>
          </a:prstGeom>
          <a:solidFill>
            <a:srgbClr val="CDF4D3"/>
          </a:solidFill>
          <a:ln w="18097">
            <a:solidFill>
              <a:srgbClr val="66D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Stable state 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91300" y="3667125"/>
            <a:ext cx="838200" cy="304800"/>
          </a:xfrm>
          <a:prstGeom prst="roundRect">
            <a:avLst>
              <a:gd name="adj" fmla="val 18000"/>
            </a:avLst>
          </a:prstGeom>
          <a:solidFill>
            <a:srgbClr val="CDF4D3"/>
          </a:solidFill>
          <a:ln w="18097">
            <a:solidFill>
              <a:srgbClr val="66D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Stable state n+1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90800" y="3819525"/>
            <a:ext cx="321469" cy="14028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0" y="3819525"/>
            <a:ext cx="550069" cy="14028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3819525"/>
            <a:ext cx="626269" cy="14028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33600" y="4012406"/>
            <a:ext cx="3089567" cy="7405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162300" y="4544291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spc="-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 or unsafe</a:t>
            </a:r>
            <a:endParaRPr lang="en-US" sz="570" dirty="0"/>
          </a:p>
        </p:txBody>
      </p:sp>
      <p:sp>
        <p:nvSpPr>
          <p:cNvPr id="14" name="Text 8"/>
          <p:cNvSpPr/>
          <p:nvPr/>
        </p:nvSpPr>
        <p:spPr>
          <a:xfrm>
            <a:off x="3124200" y="4759036"/>
            <a:ext cx="781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spc="-1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Rollback</a:t>
            </a:r>
            <a:endParaRPr lang="en-US" sz="855" dirty="0"/>
          </a:p>
        </p:txBody>
      </p:sp>
      <p:sp>
        <p:nvSpPr>
          <p:cNvPr id="15" name="Text 9"/>
          <p:cNvSpPr/>
          <p:nvPr/>
        </p:nvSpPr>
        <p:spPr>
          <a:xfrm>
            <a:off x="6110288" y="3667991"/>
            <a:ext cx="276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spc="-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475" y="609600"/>
            <a:ext cx="173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ctr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Metrics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719138" y="3090863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47875" y="3090863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RRM+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57575" y="3090863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72100" y="3090863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91388" y="4019550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80" cy="65008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32215" cy="650081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094327" cy="65008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11234" cy="650081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09" cy="1578769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5396949">
            <a:off x="7513120" y="4836315"/>
            <a:ext cx="61435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300538" y="595313"/>
            <a:ext cx="22193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Storage and Privacy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85838" y="3719512"/>
            <a:ext cx="1200150" cy="633413"/>
          </a:xfrm>
          <a:prstGeom prst="roundRect">
            <a:avLst>
              <a:gd name="adj" fmla="val 23098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Storage &amp; Privacy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43263" y="3233738"/>
            <a:ext cx="1695450" cy="619125"/>
          </a:xfrm>
          <a:prstGeom prst="roundRect">
            <a:avLst>
              <a:gd name="adj" fmla="val 17723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Data-Retention Policy</a:t>
            </a: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80" cy="14168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584740" cy="9310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1185863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Storage and Privacy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173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Metrics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490538" y="2362200"/>
            <a:ext cx="379571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device identifiers are pseudonymized before storage, MACs are normalized and transformed using HMAC-SHA256 with a site-specific secret key.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Opt-out devices are filtered at ingestion: their telemetry is excluded from per-device logs and percentiles, and only aggregate counters may include them.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781550" y="2362200"/>
            <a:ext cx="37909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stored data like telemetry, audit records, percentile aggregates, and BO outputs is protected with encryption at rest (AES-256) and TLS 1.2+ in transit.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is controlled through strict RBAC, ensuring only the minimal set of internal components can read telemetry or audit logs.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Evaluator and policy-engine actions always operate on pseudonyms, never PII.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490538" y="1628775"/>
            <a:ext cx="4124325" cy="457200"/>
          </a:xfrm>
          <a:prstGeom prst="rect">
            <a:avLst/>
          </a:prstGeom>
          <a:solidFill>
            <a:srgbClr val="CFCFCF"/>
          </a:solidFill>
          <a:ln w="9049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038" y="1743075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system handles identifiers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614863" y="1628775"/>
            <a:ext cx="4119562" cy="457200"/>
          </a:xfrm>
          <a:prstGeom prst="rect">
            <a:avLst/>
          </a:prstGeom>
          <a:solidFill>
            <a:srgbClr val="FFFFFF"/>
          </a:solidFill>
          <a:ln w="9049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5363" y="1743075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data is secured</a:t>
            </a:r>
            <a:endParaRPr lang="en-US" sz="1283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523875"/>
            <a:ext cx="33670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186238" y="595313"/>
            <a:ext cx="24479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5"/>
              </a:lnSpc>
              <a:buNone/>
            </a:pPr>
            <a:r>
              <a:rPr lang="en-US" sz="1852" spc="-37" kern="0" dirty="0">
                <a:solidFill>
                  <a:srgbClr val="FFFFFF">
                    <a:alpha val="99000"/>
                  </a:srgbClr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Data-Retention Policy</a:t>
            </a:r>
            <a:endParaRPr lang="en-US" sz="1852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3133725"/>
            <a:ext cx="1338263" cy="681038"/>
          </a:xfrm>
          <a:prstGeom prst="roundRect">
            <a:avLst>
              <a:gd name="adj" fmla="val 21483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Storage &amp; Privacy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43263" y="3733800"/>
            <a:ext cx="1695450" cy="619125"/>
          </a:xfrm>
          <a:prstGeom prst="roundRect">
            <a:avLst>
              <a:gd name="adj" fmla="val 17723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Data-Retention Policy</a:t>
            </a: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80" cy="8310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584740" cy="143113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3690938" y="4748213"/>
            <a:ext cx="7905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3957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Data-Retention Policy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609600"/>
            <a:ext cx="173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HeadlandOne" pitchFamily="34" charset="0"/>
                <a:ea typeface="HeadlandOne" pitchFamily="34" charset="-122"/>
                <a:cs typeface="HeadlandOne" pitchFamily="34" charset="-120"/>
              </a:rPr>
              <a:t>API</a:t>
            </a:r>
            <a:pPr algn="l" indent="0" marL="0">
              <a:lnSpc>
                <a:spcPts val="3010"/>
              </a:lnSpc>
              <a:buNone/>
            </a:pPr>
            <a:r>
              <a:rPr lang="en-US" sz="2280" spc="-4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Metrics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552450" y="2224088"/>
            <a:ext cx="4657725" cy="261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data category has a strictly defined retention period aligned to its operational purpose.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telemetry is kept only for the short window required to compute percentiles and QoE.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percentiles are retained longer to enable trend analysis and maintain Safe-BO model stability.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are stored for extended periods to preserve a complete accountability record of all automated decisions.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Pseudonymization keys are rotated on a fixed schedule, and retired keys are securely invalidated.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5410200" y="2224088"/>
            <a:ext cx="3219450" cy="261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purge processes remove data as soon as its retention window expires, on a daily or monthly schedule depending on the category.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purge actions are themselves recorded and signed to maintain full transparency.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that have opted out are excluded from per-device storage entirely and never retained beyond coarse aggregate statistics.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552450" y="1585913"/>
            <a:ext cx="4791075" cy="457200"/>
          </a:xfrm>
          <a:prstGeom prst="rect">
            <a:avLst/>
          </a:prstGeom>
          <a:solidFill>
            <a:srgbClr val="CFCFCF"/>
          </a:solidFill>
          <a:ln w="9049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950" y="1700213"/>
            <a:ext cx="1309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policy 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5343525" y="1585913"/>
            <a:ext cx="3348038" cy="457200"/>
          </a:xfrm>
          <a:prstGeom prst="rect">
            <a:avLst/>
          </a:prstGeom>
          <a:solidFill>
            <a:srgbClr val="FFFFFF"/>
          </a:solidFill>
          <a:ln w="9049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4025" y="1700213"/>
            <a:ext cx="1004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Purge policy</a:t>
            </a:r>
            <a:endParaRPr lang="en-US" sz="1283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8" y="609600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719138" y="3090863"/>
            <a:ext cx="115252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/sensing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47875" y="3090863"/>
            <a:ext cx="1200150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/client_view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275" y="1752600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57575" y="3090863"/>
            <a:ext cx="1704975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/planner/propose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72100" y="3090863"/>
            <a:ext cx="1709738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/planner/commit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91388" y="3090863"/>
            <a:ext cx="1052513" cy="51435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/metrics</a:t>
            </a: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419350"/>
            <a:ext cx="140289" cy="65008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400" y="2419350"/>
            <a:ext cx="1432220" cy="650081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419350"/>
            <a:ext cx="3094332" cy="65008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95400" y="2419350"/>
            <a:ext cx="5011238" cy="650081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400" y="2419350"/>
            <a:ext cx="6601913" cy="65008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-10800000">
            <a:off x="0" y="2124075"/>
            <a:ext cx="67627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0" y="2124075"/>
            <a:ext cx="6762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38" y="609600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676275" y="1795463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8450" y="1771650"/>
            <a:ext cx="1695450" cy="671513"/>
          </a:xfrm>
          <a:prstGeom prst="roundRect">
            <a:avLst>
              <a:gd name="adj" fmla="val 16340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On-AP Controller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00600" y="2786063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Cloud Controller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00600" y="3757613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Site-Planner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2625" y="2109788"/>
            <a:ext cx="4674394" cy="14028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52625" y="2109788"/>
            <a:ext cx="2826544" cy="105121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52625" y="2109788"/>
            <a:ext cx="2826544" cy="202276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5100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On-AP Controller (Fast-Loop Controller)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385763" y="1481138"/>
            <a:ext cx="50577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Purpose: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Fast Loop Is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scheduled (every 10 minutes) interference-aware optimizer for Wi-Fi AP configuration.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between the Event Loop (seconds) and Slow Loop (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incremental, safe, client-aware improvements, not disruptive changes.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361950" y="2266950"/>
            <a:ext cx="523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Design Principles: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 harm: strict cooldowns, change budgets, hysteresis thresholds.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reversible steps for stability (bandwidth ±1 step, OBSS-PD ±3 dB, channel change only when significant).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361950" y="2986088"/>
            <a:ext cx="7434263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Loop Approach: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Interference Graph–Driven Optimization: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a Directed Interference Graph every cycle using: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Additional-radio RSSI, FFT, non-Wi-Fi signatures.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telemetry (802.11k/v) to capture hidden links and actual client SINR impact.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AP's interference score = weighted sum of all interfering neighbors.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MAPE Cycle (Monitor → Analyze → Plan → Execute)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10-minute cycle: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Monitor: ingest latest sensing, retry rates, CCA busy %, channel info.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Analyze: compute total interference, per-channel interference, call decision rules.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Plan: choose safest corrective action via priority logic.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Execute: apply via ConfigEngine, log HMAC audit + rollback token.</a:t>
            </a:r>
            <a:endParaRPr lang="en-US" sz="85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352550"/>
            <a:ext cx="365760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5100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On-AP Controller (Fast-Loop Controller)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385763" y="1576388"/>
            <a:ext cx="432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demonstrated measurable improvements across all target metrics: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1885950"/>
            <a:ext cx="4210050" cy="1543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5763" y="3514725"/>
            <a:ext cx="54959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Activity Profile: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4,320 cycles, the system executed 5,904 changes. The breakdown of actions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the multi-priority logic: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58% Bandwidth Adjustments: Proving that bandwidth is the most flexible lever.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 OBSS-PD Tuning: Proving the value of spatial reuse.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Channel Changes: Proving that disruptive changes are minimized.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Success Rate: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94.3%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actions resulted in positive metric improvement, validating the predictive accuracy of the interference graph.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5657850" y="1576388"/>
            <a:ext cx="23860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with Configuration Guardrails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855" dirty="0"/>
          </a:p>
        </p:txBody>
      </p:sp>
      <p:sp>
        <p:nvSpPr>
          <p:cNvPr id="8" name="Text 5"/>
          <p:cNvSpPr/>
          <p:nvPr/>
        </p:nvSpPr>
        <p:spPr>
          <a:xfrm>
            <a:off x="5743575" y="1766888"/>
            <a:ext cx="329088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Regulatory: Defaults to safe non_dfs channels and strictly caps 2.4 GHz bandwidth at 20 MHz.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Standards: Restricts spatial reuse (OBSS-PD) thresholds to the valid IEEE 802.11ax range of -82 dBm to -62 dBm.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Stability: Prevents thrashing by enforcing a 10-minute cooldown per AP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5" dirty="0"/>
          </a:p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SLA: Triggers Auto-Rollback if retry rates increase by &gt;10% or throughput decreases by &gt;20%.</a:t>
            </a:r>
            <a:endParaRPr lang="en-US" sz="85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0" y="2124075"/>
            <a:ext cx="6762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38" y="609600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b="1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676275" y="1795463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00600" y="1774031"/>
            <a:ext cx="1695450" cy="671513"/>
          </a:xfrm>
          <a:prstGeom prst="roundRect">
            <a:avLst>
              <a:gd name="adj" fmla="val 1634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On-AP Controller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8450" y="2871788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Cloud Controller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00600" y="3757613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Site-Planner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2625" y="2109788"/>
            <a:ext cx="2826544" cy="14028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52625" y="2109788"/>
            <a:ext cx="4674394" cy="1136942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52625" y="2109788"/>
            <a:ext cx="2826544" cy="202276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5100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Cloud Controller (Slow Loop Part)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1462088"/>
            <a:ext cx="6515100" cy="35528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0" y="2124075"/>
            <a:ext cx="676275" cy="0"/>
          </a:xfrm>
          <a:prstGeom prst="line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38" y="609600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ctr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676275" y="1795463"/>
            <a:ext cx="1238250" cy="628650"/>
          </a:xfrm>
          <a:prstGeom prst="roundRect">
            <a:avLst>
              <a:gd name="adj" fmla="val 17455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RRM 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00600" y="1771650"/>
            <a:ext cx="1695450" cy="671513"/>
          </a:xfrm>
          <a:prstGeom prst="roundRect">
            <a:avLst>
              <a:gd name="adj" fmla="val 16340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On-AP Controller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00600" y="2786063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000000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Cloud Controller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96050" y="3733800"/>
            <a:ext cx="1695450" cy="590550"/>
          </a:xfrm>
          <a:prstGeom prst="roundRect">
            <a:avLst>
              <a:gd name="adj" fmla="val 18581"/>
            </a:avLst>
          </a:prstGeom>
          <a:solidFill>
            <a:srgbClr val="FFFFFF"/>
          </a:solidFill>
          <a:ln w="180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Site-Planner</a:t>
            </a: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2625" y="2109788"/>
            <a:ext cx="2826544" cy="14028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52625" y="2109788"/>
            <a:ext cx="2826544" cy="105121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52625" y="2109788"/>
            <a:ext cx="4521994" cy="199895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5100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Site-Planner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2963" y="3629025"/>
            <a:ext cx="1490663" cy="723900"/>
          </a:xfrm>
          <a:prstGeom prst="roundRect">
            <a:avLst>
              <a:gd name="adj" fmla="val 20211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Interference Graph (GNN)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43263" y="3062288"/>
            <a:ext cx="1695450" cy="619125"/>
          </a:xfrm>
          <a:prstGeom prst="roundRect">
            <a:avLst>
              <a:gd name="adj" fmla="val 17723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Planner and BSS Coloring</a:t>
            </a: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71" cy="13263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584735" cy="75961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1185863" y="4748213"/>
            <a:ext cx="79057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2976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872038" y="1009650"/>
            <a:ext cx="347186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Interference Graph (GNN)</a:t>
            </a:r>
            <a:endParaRPr lang="en-US" sz="2138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1710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Architecture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" y="2038350"/>
            <a:ext cx="3286125" cy="257651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34013" y="1957388"/>
            <a:ext cx="2347913" cy="26574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1562100"/>
            <a:ext cx="3286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8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Input Features</a:t>
            </a:r>
            <a:endParaRPr lang="en-US" sz="171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2976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872038" y="1009650"/>
            <a:ext cx="347186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Interference Graph (GNN)</a:t>
            </a:r>
            <a:endParaRPr lang="en-US" sz="2138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1710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Training and Results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2686050"/>
            <a:ext cx="3843338" cy="21240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10250" y="1943100"/>
            <a:ext cx="2847975" cy="243363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8700" y="1481138"/>
            <a:ext cx="3019425" cy="91916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1009650"/>
            <a:ext cx="5100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000000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sp>
        <p:nvSpPr>
          <p:cNvPr id="4" name="Text 2"/>
          <p:cNvSpPr/>
          <p:nvPr/>
        </p:nvSpPr>
        <p:spPr>
          <a:xfrm>
            <a:off x="766763" y="1604963"/>
            <a:ext cx="1638300" cy="638175"/>
          </a:xfrm>
          <a:prstGeom prst="roundRect">
            <a:avLst>
              <a:gd name="adj" fmla="val 22925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Site-Planner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2963" y="3062288"/>
            <a:ext cx="1490663" cy="72390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Interference Graph (GNN)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9925" y="3733800"/>
            <a:ext cx="1695450" cy="619125"/>
          </a:xfrm>
          <a:prstGeom prst="roundRect">
            <a:avLst>
              <a:gd name="adj" fmla="val 17723"/>
            </a:avLst>
          </a:prstGeom>
          <a:solidFill>
            <a:srgbClr val="000000"/>
          </a:solidFill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Planner and BSS Coloring</a:t>
            </a: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5913" y="2281238"/>
            <a:ext cx="140271" cy="75961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85913" y="2281238"/>
            <a:ext cx="2551398" cy="143113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3657600" y="4748213"/>
            <a:ext cx="79057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1125" y="1500188"/>
            <a:ext cx="6686550" cy="342900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7213" y="1009650"/>
            <a:ext cx="2976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872038" y="1009650"/>
            <a:ext cx="3471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Planner and BSS Coloring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9250" y="1604963"/>
            <a:ext cx="590550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6838" y="1485900"/>
            <a:ext cx="6410325" cy="3509963"/>
          </a:xfrm>
          <a:prstGeom prst="roundRect">
            <a:avLst>
              <a:gd name="adj" fmla="val 83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7213" y="1009650"/>
            <a:ext cx="2976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872038" y="1009650"/>
            <a:ext cx="3471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Planner and BSS Coloring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1600200"/>
            <a:ext cx="61341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1514475"/>
            <a:ext cx="6248400" cy="3376613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7213" y="1009650"/>
            <a:ext cx="2976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Site-Planner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872038" y="1009650"/>
            <a:ext cx="3471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spc="-47" kern="0" dirty="0">
                <a:solidFill>
                  <a:srgbClr val="FFFFFF">
                    <a:alpha val="99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Planner and BSS Coloring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RRM+</a:t>
            </a:r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 Architecture</a:t>
            </a:r>
            <a:endParaRPr lang="en-US" sz="25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04988" y="1614488"/>
            <a:ext cx="5529263" cy="301466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557213"/>
            <a:ext cx="4843463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Site Report</a:t>
            </a:r>
            <a:endParaRPr lang="en-US" sz="2565" dirty="0"/>
          </a:p>
          <a:p>
            <a:pPr algn="l" indent="0" marL="0">
              <a:lnSpc>
                <a:spcPts val="3386"/>
              </a:lnSpc>
              <a:buNone/>
            </a:pPr>
            <a:r>
              <a:rPr lang="en-US" sz="1710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(Simulation Environment)</a:t>
            </a:r>
            <a:endParaRPr lang="en-US" sz="2565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052637" y="1443038"/>
            <a:ext cx="5038725" cy="309086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557213"/>
            <a:ext cx="4843463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Site Report</a:t>
            </a:r>
            <a:endParaRPr lang="en-US" sz="2565" dirty="0"/>
          </a:p>
          <a:p>
            <a:pPr algn="l" indent="0" marL="0">
              <a:lnSpc>
                <a:spcPts val="3386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(from 3 days simulation logs)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3910013" y="690563"/>
            <a:ext cx="155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A: Dense Office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166688" y="2419350"/>
            <a:ext cx="690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with-rrm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66688" y="3695700"/>
            <a:ext cx="9477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without-rrm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1704975" y="4448175"/>
            <a:ext cx="18907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Distribution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4138613" y="4448175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Injection</a:t>
            </a:r>
            <a:endParaRPr lang="en-US" sz="1283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48438" y="2433638"/>
            <a:ext cx="2195513" cy="2195513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28763" y="1947863"/>
            <a:ext cx="1943100" cy="116681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28763" y="3238500"/>
            <a:ext cx="1981200" cy="119062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95688" y="1947863"/>
            <a:ext cx="2319338" cy="1157288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24525" y="400050"/>
            <a:ext cx="3095625" cy="154781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38550" y="3290888"/>
            <a:ext cx="2276475" cy="113823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587" y="1971675"/>
            <a:ext cx="3943350" cy="19716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905000"/>
            <a:ext cx="4076700" cy="20383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557213"/>
            <a:ext cx="4843463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Site Report</a:t>
            </a:r>
            <a:endParaRPr lang="en-US" sz="2565" dirty="0"/>
          </a:p>
          <a:p>
            <a:pPr algn="l" indent="0" marL="0">
              <a:lnSpc>
                <a:spcPts val="3386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(from 3 days simulation logs)</a:t>
            </a:r>
            <a:endParaRPr lang="en-US" sz="2565" dirty="0"/>
          </a:p>
        </p:txBody>
      </p:sp>
      <p:sp>
        <p:nvSpPr>
          <p:cNvPr id="5" name="Text 1"/>
          <p:cNvSpPr/>
          <p:nvPr/>
        </p:nvSpPr>
        <p:spPr>
          <a:xfrm>
            <a:off x="2090738" y="3943350"/>
            <a:ext cx="8905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RRM+</a:t>
            </a:r>
            <a:endParaRPr lang="en-US" sz="1283" dirty="0"/>
          </a:p>
        </p:txBody>
      </p:sp>
      <p:sp>
        <p:nvSpPr>
          <p:cNvPr id="6" name="Text 2"/>
          <p:cNvSpPr/>
          <p:nvPr/>
        </p:nvSpPr>
        <p:spPr>
          <a:xfrm>
            <a:off x="6096000" y="3943350"/>
            <a:ext cx="1147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RRM+</a:t>
            </a:r>
            <a:endParaRPr lang="en-US" sz="1283" dirty="0"/>
          </a:p>
        </p:txBody>
      </p:sp>
      <p:sp>
        <p:nvSpPr>
          <p:cNvPr id="7" name="Text 3"/>
          <p:cNvSpPr/>
          <p:nvPr/>
        </p:nvSpPr>
        <p:spPr>
          <a:xfrm>
            <a:off x="557213" y="4267200"/>
            <a:ext cx="7600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rates: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retry rate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18.2%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throughput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10.04%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QoE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7.9%</a:t>
            </a:r>
            <a:endParaRPr lang="en-US" sz="855" dirty="0"/>
          </a:p>
        </p:txBody>
      </p:sp>
      <p:sp>
        <p:nvSpPr>
          <p:cNvPr id="8" name="Text 4"/>
          <p:cNvSpPr/>
          <p:nvPr/>
        </p:nvSpPr>
        <p:spPr>
          <a:xfrm>
            <a:off x="5781675" y="800100"/>
            <a:ext cx="1776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 Comparision</a:t>
            </a:r>
            <a:endParaRPr lang="en-US" sz="1283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557213"/>
            <a:ext cx="4843463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Site Report</a:t>
            </a:r>
            <a:endParaRPr lang="en-US" sz="2565" dirty="0"/>
          </a:p>
          <a:p>
            <a:pPr algn="l" indent="0" marL="0">
              <a:lnSpc>
                <a:spcPts val="3386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(from 3 days simulation logs)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3910013" y="690563"/>
            <a:ext cx="1319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B: Education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19750" y="409575"/>
            <a:ext cx="3105150" cy="1552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688" y="2419350"/>
            <a:ext cx="690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with-rrm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166688" y="3695700"/>
            <a:ext cx="9477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without-rrm</a:t>
            </a:r>
            <a:endParaRPr lang="en-US" sz="128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04975" y="1962150"/>
            <a:ext cx="1757363" cy="105251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04975" y="3314700"/>
            <a:ext cx="1757363" cy="10525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04975" y="4448175"/>
            <a:ext cx="18907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Distribution</a:t>
            </a:r>
            <a:endParaRPr lang="en-US" sz="1283" dirty="0"/>
          </a:p>
        </p:txBody>
      </p:sp>
      <p:sp>
        <p:nvSpPr>
          <p:cNvPr id="10" name="Text 5"/>
          <p:cNvSpPr/>
          <p:nvPr/>
        </p:nvSpPr>
        <p:spPr>
          <a:xfrm>
            <a:off x="4138613" y="4448175"/>
            <a:ext cx="1257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Injection</a:t>
            </a:r>
            <a:endParaRPr lang="en-US" sz="1283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62362" y="3395663"/>
            <a:ext cx="2105025" cy="105251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62362" y="1962150"/>
            <a:ext cx="2209800" cy="110490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15088" y="2157413"/>
            <a:ext cx="2309813" cy="230981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947863"/>
            <a:ext cx="4110038" cy="205263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725" y="1947863"/>
            <a:ext cx="4105275" cy="20526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557213"/>
            <a:ext cx="4843463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Site Report</a:t>
            </a:r>
            <a:endParaRPr lang="en-US" sz="2565" dirty="0"/>
          </a:p>
          <a:p>
            <a:pPr algn="l" indent="0" marL="0">
              <a:lnSpc>
                <a:spcPts val="3386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(from 3 days simulation logs)</a:t>
            </a:r>
            <a:endParaRPr lang="en-US" sz="2565" dirty="0"/>
          </a:p>
        </p:txBody>
      </p:sp>
      <p:sp>
        <p:nvSpPr>
          <p:cNvPr id="5" name="Text 1"/>
          <p:cNvSpPr/>
          <p:nvPr/>
        </p:nvSpPr>
        <p:spPr>
          <a:xfrm>
            <a:off x="557213" y="4267200"/>
            <a:ext cx="7600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rates: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retry rate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18.3%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throughput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17.22%</a:t>
            </a:r>
            <a:endParaRPr lang="en-US" sz="855" dirty="0"/>
          </a:p>
          <a:p>
            <a:pPr algn="l" lvl="1" marL="685800" indent="-342900">
              <a:lnSpc>
                <a:spcPts val="1146"/>
              </a:lnSpc>
              <a:buSzPct val="100000"/>
              <a:buChar char="•"/>
            </a:pPr>
            <a:r>
              <a:rPr lang="en-US" sz="855" b="1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QoE</a:t>
            </a:r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10.9%</a:t>
            </a:r>
            <a:endParaRPr lang="en-US" sz="855" dirty="0"/>
          </a:p>
        </p:txBody>
      </p:sp>
      <p:sp>
        <p:nvSpPr>
          <p:cNvPr id="6" name="Text 2"/>
          <p:cNvSpPr/>
          <p:nvPr/>
        </p:nvSpPr>
        <p:spPr>
          <a:xfrm>
            <a:off x="2090738" y="3943350"/>
            <a:ext cx="8905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RRM+</a:t>
            </a:r>
            <a:endParaRPr lang="en-US" sz="1283" dirty="0"/>
          </a:p>
        </p:txBody>
      </p:sp>
      <p:sp>
        <p:nvSpPr>
          <p:cNvPr id="7" name="Text 3"/>
          <p:cNvSpPr/>
          <p:nvPr/>
        </p:nvSpPr>
        <p:spPr>
          <a:xfrm>
            <a:off x="6096000" y="3943350"/>
            <a:ext cx="1147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RRM+</a:t>
            </a:r>
            <a:endParaRPr lang="en-US" sz="1283" dirty="0"/>
          </a:p>
        </p:txBody>
      </p:sp>
      <p:sp>
        <p:nvSpPr>
          <p:cNvPr id="8" name="Text 4"/>
          <p:cNvSpPr/>
          <p:nvPr/>
        </p:nvSpPr>
        <p:spPr>
          <a:xfrm>
            <a:off x="5781675" y="800100"/>
            <a:ext cx="1776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 Comparision</a:t>
            </a:r>
            <a:endParaRPr lang="en-US" sz="1283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557213"/>
            <a:ext cx="484346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565" spc="-5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800100" y="1481138"/>
            <a:ext cx="7329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Slow Loop’s graph coloring algorithm and global planner remain theoretical proposals without full simulation validation.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RL and causal uplift models were trained exclusively on synthetic data generated from physics-based models rather than production network traces, as real-world datasets were unavailable.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Similarly, the non-Wi-Fi interference classifier relies on code-generated training data adhering to IEEE 802.15 specifications for Zigbee, BLE, and FHSS signatures. 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extent of simulation is limited and the simulation doesn’t fully implement the multi AP coordination and graph planner.</a:t>
            </a:r>
            <a:endParaRPr lang="en-US" sz="1283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375" y="2295525"/>
            <a:ext cx="16192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</a:t>
            </a:r>
            <a:endParaRPr lang="en-US" sz="3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2026-09-23T17:16:05Z</dcterms:created>
  <dcterms:modified xsi:type="dcterms:W3CDTF">2026-09-23T17:16:05Z</dcterms:modified>
</cp:coreProperties>
</file>